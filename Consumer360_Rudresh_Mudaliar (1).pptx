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Champions (3)</c:v>
                </c:pt>
                <c:pt idx="1">
                  <c:v>Loyal Customers (1)</c:v>
                </c:pt>
                <c:pt idx="2">
                  <c:v>Churn Risk (3)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F3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CLV (₹)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Amit Shah</c:v>
                  </c:pt>
                  <c:pt idx="1">
                    <c:v>Karan Patel</c:v>
                  </c:pt>
                  <c:pt idx="2">
                    <c:v>Priya Mehta</c:v>
                  </c:pt>
                  <c:pt idx="3">
                    <c:v>Rahul Verma</c:v>
                  </c:pt>
                  <c:pt idx="4">
                    <c:v>Neha Singh</c:v>
                  </c:pt>
                  <c:pt idx="5">
                    <c:v>Sneha Iyer</c:v>
                  </c:pt>
                  <c:pt idx="6">
                    <c:v>Rohit Sharma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1008000</c:v>
                </c:pt>
                <c:pt idx="1">
                  <c:v>720000</c:v>
                </c:pt>
                <c:pt idx="2">
                  <c:v>360000</c:v>
                </c:pt>
                <c:pt idx="3">
                  <c:v>72000</c:v>
                </c:pt>
                <c:pt idx="4">
                  <c:v>72000</c:v>
                </c:pt>
                <c:pt idx="5">
                  <c:v>60000</c:v>
                </c:pt>
                <c:pt idx="6">
                  <c:v>36000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84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Champions</c:v>
                </c:pt>
                <c:pt idx="1">
                  <c:v>Loyal</c:v>
                </c:pt>
                <c:pt idx="2">
                  <c:v>Churn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84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8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828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DATA ANALYTICS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 ·  Customer Segmentation  ·  Cohort Retention  ·  Market Basket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200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0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Rudresh Mudaliar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Data Analytics  |  Python  ·  SQL  ·  Power BI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0116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423160"/>
            <a:ext cx="17922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360° view of customers using SQL, Python &amp; Power BI to uncover actionable insights from retail transaction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32304" y="1234440"/>
            <a:ext cx="201168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32304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42032" y="2423160"/>
            <a:ext cx="17922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Python (Pandas, mlxtend) · Power BI Desktop. Star-schema with 1 fact table and 4 dimension tables.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0288" y="12344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234440"/>
            <a:ext cx="20116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90288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0016" y="2423160"/>
            <a:ext cx="17922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 · Customer Segmentation · Cohort Retention · Market Basket (Apriori) · CLV Projection.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1234440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1234440"/>
            <a:ext cx="201168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48272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423160"/>
            <a:ext cx="17922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with KPI cards, donut chart, cohort heatmap &amp; association rule explorer.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1463040"/>
            <a:ext cx="21945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965960"/>
            <a:ext cx="20116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20574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84448" y="22860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(FK)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84448" y="25146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84448" y="27432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 (FK)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84448" y="29718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84448" y="32004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4448" y="342900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2286000" cy="1737360"/>
          </a:xfrm>
          <a:prstGeom prst="rect">
            <a:avLst/>
          </a:prstGeom>
          <a:solidFill>
            <a:srgbClr val="16284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463040"/>
            <a:ext cx="2286000" cy="3383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813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828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0482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2677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27066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signup_date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2286000" cy="1508760"/>
          </a:xfrm>
          <a:prstGeom prst="rect">
            <a:avLst/>
          </a:prstGeom>
          <a:solidFill>
            <a:srgbClr val="1628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91840"/>
            <a:ext cx="2286000" cy="338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101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(PK)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3877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096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3159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75120" y="1463040"/>
            <a:ext cx="2286000" cy="1051560"/>
          </a:xfrm>
          <a:prstGeom prst="rect">
            <a:avLst/>
          </a:prstGeom>
          <a:solidFill>
            <a:srgbClr val="162847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1463040"/>
            <a:ext cx="2286000" cy="3383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4813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1828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 (PK)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0" y="20482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store_city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75120" y="3291840"/>
            <a:ext cx="2286000" cy="1051560"/>
          </a:xfrm>
          <a:prstGeom prst="rect">
            <a:avLst/>
          </a:prstGeom>
          <a:solidFill>
            <a:srgbClr val="16284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75120" y="3291840"/>
            <a:ext cx="2286000" cy="3383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3101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DIM_CATEGORY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3657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(PK)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3877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0" y="1828800"/>
            <a:ext cx="0" cy="365760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474720" y="3657600"/>
            <a:ext cx="0" cy="-1463040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1353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691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Days since last purchase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7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(Amit Shah, Priya Mehta)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18872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13632" y="1353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13632" y="1691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Number of orders placed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3 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(Amit Shah)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188720"/>
            <a:ext cx="2560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32588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48272" y="1353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48272" y="1691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spend value (₹)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8076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₹84,000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(Amit Shah)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71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91640" y="29718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2971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Recency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94760" y="29718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Frequency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971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Monetary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9320" y="29718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RFM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95160" y="2971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Segment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319272"/>
            <a:ext cx="85953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284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Shah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91640" y="33284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97480" y="332841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94760" y="33284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3284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₹84,000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89320" y="33284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95160" y="33284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566160"/>
            <a:ext cx="8595360" cy="2468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5753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Mehta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691640" y="35753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97480" y="35753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94760" y="35753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35753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89320" y="35753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3575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3813048"/>
            <a:ext cx="85953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221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Sharma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691640" y="38221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697480" y="38221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794760" y="38221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00600" y="38221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989320" y="38221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95160" y="3822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059936"/>
            <a:ext cx="8595360" cy="2468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069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Singh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691640" y="40690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697480" y="40690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794760" y="40690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00600" y="4069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989320" y="40690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99516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4306824"/>
            <a:ext cx="85953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315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Patel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691640" y="43159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697480" y="43159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794760" y="43159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00600" y="43159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989320" y="43159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995160" y="43159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4553712"/>
            <a:ext cx="8595360" cy="2468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45628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Verma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691640" y="45628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697480" y="45628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794760" y="45628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800600" y="45628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989320" y="45628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995160" y="45628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4800600"/>
            <a:ext cx="859536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48097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Iyer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69164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697480" y="48097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79476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800600" y="480974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989320" y="48097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995160" y="48097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097280"/>
            <a:ext cx="4206240" cy="1143000"/>
          </a:xfrm>
          <a:prstGeom prst="rect">
            <a:avLst/>
          </a:prstGeom>
          <a:solidFill>
            <a:srgbClr val="16284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109728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8032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Champions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28032" y="148132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3 customers  ·  43% of base  ·  RFM ≥ 4,4,x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28032" y="17373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Reward &amp; retain. Launch VIP loyalty program.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2377440"/>
            <a:ext cx="4206240" cy="1143000"/>
          </a:xfrm>
          <a:prstGeom prst="rect">
            <a:avLst/>
          </a:prstGeom>
          <a:solidFill>
            <a:srgbClr val="16284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377440"/>
            <a:ext cx="9144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Loyal Customers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28032" y="27614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 customer  ·  14% of base  ·  RFM ≥ 3,3,x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28032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Upsell premium products. Send exclusive offers.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3657600"/>
            <a:ext cx="4206240" cy="1143000"/>
          </a:xfrm>
          <a:prstGeom prst="rect">
            <a:avLst/>
          </a:prstGeom>
          <a:solidFill>
            <a:srgbClr val="162847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657600"/>
            <a:ext cx="91440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Churn Risk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28032" y="40416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3 customers  ·  43% of base  ·  RFM ≤ 2,x,x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28032" y="42976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Win-back campaign. Offer discount coupon urgently.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4747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34747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Cohort Analysis?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cohort groups customers who made their FIRST purchase in the same calendar month.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 how many customers from each cohort return to buy again in subsequent months.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reveals customer loyalty patterns and helps identify how long customers stay engaged after joining.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0" y="1115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Heatmap (%)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1508760"/>
            <a:ext cx="123444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08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 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90488" y="1508760"/>
            <a:ext cx="123444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508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88936" y="1508760"/>
            <a:ext cx="123444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8936" y="1508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77640" y="1874520"/>
            <a:ext cx="868680" cy="5303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87452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Jan 2024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92040" y="1874520"/>
            <a:ext cx="12344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8745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90488" y="1874520"/>
            <a:ext cx="1234440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8745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88936" y="1874520"/>
            <a:ext cx="1234440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8936" y="18745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977640" y="2468880"/>
            <a:ext cx="868680" cy="5303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46888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Feb 2024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2040" y="2468880"/>
            <a:ext cx="12344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68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90488" y="2468880"/>
            <a:ext cx="1234440" cy="530352"/>
          </a:xfrm>
          <a:prstGeom prst="rect">
            <a:avLst/>
          </a:prstGeom>
          <a:solidFill>
            <a:srgbClr val="5EE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468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88936" y="2468880"/>
            <a:ext cx="123444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8936" y="2468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—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977640" y="3063240"/>
            <a:ext cx="868680" cy="5303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306324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 2024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92040" y="3063240"/>
            <a:ext cx="12344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0632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190488" y="3063240"/>
            <a:ext cx="123444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30632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—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488936" y="3063240"/>
            <a:ext cx="123444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88936" y="30632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—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977640" y="3730752"/>
            <a:ext cx="489204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0" y="37764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4114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cohort shows 100% retention at Month 1 &amp; 2 — early adopters are the most loyal. Mar cohort has no follow-up data yet. Recommend tracking 6-month retention for deeper insight.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&amp; KEY PERFORMANCE INDICATORS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11680" cy="1325880"/>
          </a:xfrm>
          <a:prstGeom prst="rect">
            <a:avLst/>
          </a:prstGeom>
          <a:solidFill>
            <a:srgbClr val="16284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0116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 transactions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04872" y="1143000"/>
            <a:ext cx="2011680" cy="1325880"/>
          </a:xfrm>
          <a:prstGeom prst="rect">
            <a:avLst/>
          </a:prstGeom>
          <a:solidFill>
            <a:srgbClr val="162847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1143000"/>
            <a:ext cx="201168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04872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04872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across all orders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81144" y="1143000"/>
            <a:ext cx="2011680" cy="1325880"/>
          </a:xfrm>
          <a:prstGeom prst="rect">
            <a:avLst/>
          </a:prstGeom>
          <a:solidFill>
            <a:srgbClr val="1628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143000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81144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1144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unique buyers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57416" y="1143000"/>
            <a:ext cx="2011680" cy="1325880"/>
          </a:xfrm>
          <a:prstGeom prst="rect">
            <a:avLst/>
          </a:prstGeom>
          <a:solidFill>
            <a:srgbClr val="16284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1143000"/>
            <a:ext cx="201168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₹3.33L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57416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 (Projected)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57416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12-month horizon</a:t>
            </a:r>
            <a:endParaRPr lang="en-US" sz="8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606040"/>
          <a:ext cx="8595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02336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Apriori Algorithm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556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transaction matrix — one row per order, one column per product (True/False).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4688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frequent itemsets with min_support = 0.2 (product combo in ≥20% of orders).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63824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1821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association rules using Lift ≥ 1.0 (lift &gt; 1 means positive correlation).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877056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89534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antecedent → consequent with confidence &amp; lift scores.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143000"/>
            <a:ext cx="4297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143000"/>
            <a:ext cx="73152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2161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1527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transactions containing the product pair.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1892808"/>
            <a:ext cx="2560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892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support(A→B) = P(A∩B)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313432"/>
            <a:ext cx="4297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313432"/>
            <a:ext cx="73152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386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2697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B appears when A appears.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3063240"/>
            <a:ext cx="2560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P(B|A) = P(A∩B) / P(A)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483864"/>
            <a:ext cx="4297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3483864"/>
            <a:ext cx="73152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5570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36592" y="38679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vs random chance. Lift &gt; 1 = positive link.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36592" y="4233672"/>
            <a:ext cx="25603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= confidence / P(B)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4645152"/>
            <a:ext cx="4297680" cy="164592"/>
          </a:xfrm>
          <a:prstGeom prst="rect">
            <a:avLst/>
          </a:prstGeom>
          <a:solidFill>
            <a:srgbClr val="FED7A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6451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2D12"/>
                </a:solidFill>
              </a:rPr>
              <a:t>⚠  Demo dataset (10 orders) is below the min_support threshold — rules emerge with 100+ transactions.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777240"/>
          </a:xfrm>
          <a:prstGeom prst="rect">
            <a:avLst/>
          </a:prstGeom>
          <a:solidFill>
            <a:srgbClr val="16284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9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32304" y="1097280"/>
            <a:ext cx="2011680" cy="777240"/>
          </a:xfrm>
          <a:prstGeom prst="rect">
            <a:avLst/>
          </a:prstGeom>
          <a:solidFill>
            <a:srgbClr val="16284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1097280"/>
            <a:ext cx="20116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1179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32304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Avg Order Value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90288" y="1097280"/>
            <a:ext cx="2011680" cy="777240"/>
          </a:xfrm>
          <a:prstGeom prst="rect">
            <a:avLst/>
          </a:prstGeom>
          <a:solidFill>
            <a:srgbClr val="1628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109728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179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Customers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48272" y="1097280"/>
            <a:ext cx="2011680" cy="777240"/>
          </a:xfrm>
          <a:prstGeom prst="rect">
            <a:avLst/>
          </a:prstGeom>
          <a:solidFill>
            <a:srgbClr val="16284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48272" y="1097280"/>
            <a:ext cx="20116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1795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(43%)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48272" y="15727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Champions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011680"/>
            <a:ext cx="2697480" cy="2697480"/>
          </a:xfrm>
          <a:prstGeom prst="rect">
            <a:avLst/>
          </a:prstGeom>
          <a:solidFill>
            <a:srgbClr val="16284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011680"/>
            <a:ext cx="2697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Segment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Donut Chart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274320" y="2011680"/>
          <a:ext cx="26974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3127248" y="2011680"/>
            <a:ext cx="2980944" cy="2697480"/>
          </a:xfrm>
          <a:prstGeom prst="rect">
            <a:avLst/>
          </a:prstGeom>
          <a:solidFill>
            <a:srgbClr val="16284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27248" y="2011680"/>
            <a:ext cx="29809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Recency vs Monetary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Bubble / Scatter</a:t>
            </a:r>
            <a:endParaRPr lang="en-US" sz="13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3127248" y="2011680"/>
          <a:ext cx="2980944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hape 23"/>
          <p:cNvSpPr/>
          <p:nvPr/>
        </p:nvSpPr>
        <p:spPr>
          <a:xfrm>
            <a:off x="6254496" y="2011680"/>
            <a:ext cx="2615184" cy="2697480"/>
          </a:xfrm>
          <a:prstGeom prst="rect">
            <a:avLst/>
          </a:prstGeom>
          <a:solidFill>
            <a:srgbClr val="16284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54496" y="20116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Cohort Retention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Heatmap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309360" y="2542032"/>
            <a:ext cx="795528" cy="621792"/>
          </a:xfrm>
          <a:prstGeom prst="rect">
            <a:avLst/>
          </a:prstGeom>
          <a:solidFill>
            <a:srgbClr val="028090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309360" y="2542032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132320" y="2542032"/>
            <a:ext cx="795528" cy="621792"/>
          </a:xfrm>
          <a:prstGeom prst="rect">
            <a:avLst/>
          </a:prstGeom>
          <a:solidFill>
            <a:srgbClr val="028090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132320" y="2542032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7955280" y="2542032"/>
            <a:ext cx="795528" cy="621792"/>
          </a:xfrm>
          <a:prstGeom prst="rect">
            <a:avLst/>
          </a:prstGeom>
          <a:solidFill>
            <a:srgbClr val="028090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955280" y="2542032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309360" y="3200400"/>
            <a:ext cx="795528" cy="621792"/>
          </a:xfrm>
          <a:prstGeom prst="rect">
            <a:avLst/>
          </a:prstGeom>
          <a:solidFill>
            <a:srgbClr val="14B8A6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309360" y="3200400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132320" y="3200400"/>
            <a:ext cx="795528" cy="621792"/>
          </a:xfrm>
          <a:prstGeom prst="rect">
            <a:avLst/>
          </a:prstGeom>
          <a:solidFill>
            <a:srgbClr val="14B8A6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132320" y="3200400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7955280" y="3200400"/>
            <a:ext cx="795528" cy="621792"/>
          </a:xfrm>
          <a:prstGeom prst="rect">
            <a:avLst/>
          </a:prstGeom>
          <a:solidFill>
            <a:srgbClr val="E2E8F0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955280" y="3200400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6309360" y="3858768"/>
            <a:ext cx="795528" cy="621792"/>
          </a:xfrm>
          <a:prstGeom prst="rect">
            <a:avLst/>
          </a:prstGeom>
          <a:solidFill>
            <a:srgbClr val="5EEAD4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309360" y="3858768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7132320" y="3858768"/>
            <a:ext cx="795528" cy="621792"/>
          </a:xfrm>
          <a:prstGeom prst="rect">
            <a:avLst/>
          </a:prstGeom>
          <a:solidFill>
            <a:srgbClr val="E2E8F0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132320" y="3858768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7955280" y="3858768"/>
            <a:ext cx="795528" cy="621792"/>
          </a:xfrm>
          <a:prstGeom prst="rect">
            <a:avLst/>
          </a:prstGeom>
          <a:solidFill>
            <a:srgbClr val="E2E8F0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955280" y="3858768"/>
            <a:ext cx="795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87552" y="1298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6276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Schema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9659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design. Views, Window Functions, CTEs, Stored Procedures.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88720"/>
            <a:ext cx="73152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67912" y="1298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67912" y="16276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9272" y="19659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mlxtend · matplotlib. RFM, CLV, Cohort, Apriori.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48272" y="1298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48272" y="16276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99632" y="19659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dashboard. KPI cards, donut, heatmap, scatter, slicers.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73152" cy="1600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87552" y="3081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(mlxtend)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3410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3749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mining. Support, Confidence, Lift metrics.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0" y="29718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7180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867912" y="3081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67912" y="3410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Bridge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19272" y="3749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rfm_output.csv · cohort_analysis.csv · market_basket_rules.csv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971800"/>
            <a:ext cx="73152" cy="1600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748272" y="3081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48272" y="3410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99632" y="3749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1 fact table (fact_sales) + 4 dimension tables.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solidFill>
            <a:srgbClr val="16284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6858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1704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Customers are Champions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813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Shah &amp; Priya Mehta drive the most value. Invest in a VIP loyalty programme — exclusive early access, personalised offers, and a dedicated support channel.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822960"/>
          </a:xfrm>
          <a:prstGeom prst="rect">
            <a:avLst/>
          </a:prstGeom>
          <a:solidFill>
            <a:srgbClr val="16284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57400"/>
            <a:ext cx="6858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5740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2130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Churn Risk — Urgent Action Needed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4414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Patel, Rahul Verma &amp; Sneha Iyer show low recency AND low frequency. Deploy a win-back email sequence with a time-limited 15% discount coupon within 7 days.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95360" cy="822960"/>
          </a:xfrm>
          <a:prstGeom prst="rect">
            <a:avLst/>
          </a:prstGeom>
          <a:solidFill>
            <a:srgbClr val="16284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17520"/>
            <a:ext cx="6858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1752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30906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CLV Concentration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4015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Shah alone accounts for ₹1,008,000 projected CLV — 44% of total. Diversify revenue by nurturing Karan Patel (₹720K potential) from Churn Risk to Loyal.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16284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77640"/>
            <a:ext cx="685800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7764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" y="40507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Cohort Shows 100% Retention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3616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First-month customers stay longest. Scale the onboarding experience that worked in Jan 2024 — structured welcome email, tutorial, and first-purchase follow-up.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84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360 — Data Analytics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2606040"/>
            <a:ext cx="4023360" cy="1508760"/>
          </a:xfrm>
          <a:prstGeom prst="rect">
            <a:avLst/>
          </a:prstGeom>
          <a:solidFill>
            <a:srgbClr val="16284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724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Rudresh Mudaliar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Python  ·  SQL  ·  Power BI  ·  Data Analytics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3520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📂  github.com  |  Portfolio Project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Consumer 360  ·  Rudresh Mudaliar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360 — Data Analytics Project</dc:title>
  <dc:subject>PptxGenJS Presentation</dc:subject>
  <dc:creator>Rudresh Mudaliar</dc:creator>
  <cp:lastModifiedBy>Rudresh Mudaliar</cp:lastModifiedBy>
  <cp:revision>1</cp:revision>
  <dcterms:created xsi:type="dcterms:W3CDTF">2026-04-02T15:24:05Z</dcterms:created>
  <dcterms:modified xsi:type="dcterms:W3CDTF">2026-04-02T15:24:05Z</dcterms:modified>
</cp:coreProperties>
</file>